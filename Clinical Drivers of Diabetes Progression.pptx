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us Jakarta Sans"/>
      <p:bold r:id="rId7"/>
    </p:embeddedFont>
    <p:embeddedFont>
      <p:font typeface="Space Grotesk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96" d="100"/>
          <a:sy n="96" d="100"/>
        </p:scale>
        <p:origin x="20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25267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3151" y="5030092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875532"/>
            <a:ext cx="9101137" cy="602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 dirty="0">
                <a:solidFill>
                  <a:srgbClr val="FFFFFF"/>
                </a:solidFill>
                <a:latin typeface="+mj-lt"/>
              </a:rPr>
              <a:t>Clinical Drivers of Diabetes Progression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87017"/>
            <a:ext cx="6572250" cy="566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</a:rPr>
              <a:t>Key findings from a 1-year longitudinal analysis of 442 patients: Identifying high-impact baseline risk markers to optimize clinical care and resource allocation.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263" y="4911030"/>
            <a:ext cx="90088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PATIENT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COHORT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5130105"/>
            <a:ext cx="14224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N = 442 </a:t>
            </a:r>
            <a:r>
              <a:rPr sz="1200" b="1" i="0" u="none" dirty="0">
                <a:solidFill>
                  <a:srgbClr val="F8FAF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Adult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1577" y="4911030"/>
            <a:ext cx="77425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TIME </a:t>
            </a:r>
            <a:r>
              <a:rPr sz="975" b="0" i="0" u="none" dirty="0">
                <a:solidFill>
                  <a:srgbClr val="6474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HORIZON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1578" y="5130105"/>
            <a:ext cx="13310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12-Month </a:t>
            </a:r>
            <a:r>
              <a:rPr sz="1200" b="1" i="0" u="none" dirty="0">
                <a:solidFill>
                  <a:srgbClr val="F8FAFC"/>
                </a:solidFill>
              </a:rPr>
              <a:t>Follow-Up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3662"/>
            <a:ext cx="350520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33662"/>
            <a:ext cx="350520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33662"/>
            <a:ext cx="350520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479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479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479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08133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08133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081337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04850"/>
            <a:ext cx="547380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Three 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Primary</a:t>
            </a: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 Drivers Dictate Disease 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595687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Body Mass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919537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Single strongest physical metric (r = 0.586). Weight management yields immediate baseline impact.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3595687"/>
            <a:ext cx="155382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Serum </a:t>
            </a:r>
            <a:r>
              <a:rPr sz="1500" b="1" i="0" u="none" dirty="0">
                <a:solidFill>
                  <a:srgbClr val="0F172A"/>
                </a:solidFill>
              </a:rPr>
              <a:t>Triglycerides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725" y="3919537"/>
            <a:ext cx="2971800" cy="3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Strongest </a:t>
            </a:r>
            <a:r>
              <a:rPr sz="1125" b="0" i="0" u="none" dirty="0">
                <a:solidFill>
                  <a:srgbClr val="475569"/>
                </a:solidFill>
              </a:rPr>
              <a:t>biochemical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indicator (r = 0.566). Reflects key metabolic lipid dysfunction.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3595687"/>
            <a:ext cx="119308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</a:rPr>
              <a:t>Blood</a:t>
            </a:r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 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3919537"/>
            <a:ext cx="2971800" cy="3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Key secondary risk factor (r = 0.441). Essential for </a:t>
            </a:r>
            <a:r>
              <a:rPr sz="1125" b="0" i="0" u="none" dirty="0">
                <a:solidFill>
                  <a:srgbClr val="475569"/>
                </a:solidFill>
              </a:rPr>
              <a:t>cardiovascular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and vascular co-monitoring.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2237"/>
            <a:ext cx="3619500" cy="2466975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86300" y="2919412"/>
            <a:ext cx="6896100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86300" y="3767137"/>
            <a:ext cx="6896100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86300" y="4614862"/>
            <a:ext cx="6896100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555562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High Predictive 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Yield</a:t>
            </a: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 from a 3-Marker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662" y="3119437"/>
            <a:ext cx="338137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 dirty="0">
                <a:solidFill>
                  <a:srgbClr val="0284C7"/>
                </a:solidFill>
                <a:latin typeface="Plus Jakarta Sans"/>
              </a:rPr>
              <a:t>47.7%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1640" y="4033837"/>
            <a:ext cx="22354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0F172A"/>
                </a:solidFill>
              </a:rPr>
              <a:t>Progression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Variance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662" y="4329112"/>
            <a:ext cx="33813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Adjusted R² using </a:t>
            </a:r>
            <a:r>
              <a:rPr sz="1050" b="0" i="0" u="none" dirty="0">
                <a:solidFill>
                  <a:srgbClr val="64748B"/>
                </a:solidFill>
              </a:rPr>
              <a:t>only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BMI, Blood Pressure, and Log-Triglycerides.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300" y="2481262"/>
            <a:ext cx="26979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</a:rPr>
              <a:t>Independent</a:t>
            </a:r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 Progression Impact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3071812"/>
            <a:ext cx="24193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Log Serum </a:t>
            </a:r>
            <a:r>
              <a:rPr sz="1200" b="1" i="0" u="none" dirty="0">
                <a:solidFill>
                  <a:srgbClr val="0F172A"/>
                </a:solidFill>
              </a:rPr>
              <a:t>Triglycerides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 (s5)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8775" y="3148012"/>
            <a:ext cx="185813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+37.5 units </a:t>
            </a:r>
            <a:r>
              <a:rPr sz="1500" b="1" i="0" u="none" dirty="0">
                <a:solidFill>
                  <a:srgbClr val="0284C7"/>
                </a:solidFill>
              </a:rPr>
              <a:t>progression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0" y="3919537"/>
            <a:ext cx="17430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Body </a:t>
            </a:r>
            <a:r>
              <a:rPr sz="1200" b="1" i="0" u="none" dirty="0">
                <a:solidFill>
                  <a:srgbClr val="0F172A"/>
                </a:solidFill>
              </a:rPr>
              <a:t>Mass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 Index (BMI)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8775" y="3995737"/>
            <a:ext cx="185813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+7.87 units </a:t>
            </a:r>
            <a:r>
              <a:rPr sz="1500" b="1" i="0" u="none" dirty="0">
                <a:solidFill>
                  <a:srgbClr val="0284C7"/>
                </a:solidFill>
              </a:rPr>
              <a:t>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4767262"/>
            <a:ext cx="219075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Average Blood Pressure (BP)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1150" y="4843462"/>
            <a:ext cx="27384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+0.98 units progression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0" y="3290887"/>
            <a:ext cx="21111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Per +1 unit increase in log </a:t>
            </a:r>
            <a:r>
              <a:rPr sz="1050" b="0" i="0" u="none" dirty="0">
                <a:solidFill>
                  <a:srgbClr val="64748B"/>
                </a:solidFill>
              </a:rPr>
              <a:t>triglycerides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800" y="4138612"/>
            <a:ext cx="119584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Per +1 kg/m² </a:t>
            </a:r>
            <a:r>
              <a:rPr sz="1050" b="0" i="0" u="none" dirty="0">
                <a:solidFill>
                  <a:srgbClr val="64748B"/>
                </a:solidFill>
              </a:rPr>
              <a:t>increase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4986337"/>
            <a:ext cx="125996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Per +1 mm Hg </a:t>
            </a:r>
            <a:r>
              <a:rPr sz="1050" b="0" i="0" u="none" dirty="0">
                <a:solidFill>
                  <a:srgbClr val="6474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48000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048000"/>
            <a:ext cx="1714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Addressing Lab Multicollinearity &amp; Operational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825" y="3038475"/>
            <a:ext cx="245580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Avoid </a:t>
            </a:r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Redundant</a:t>
            </a:r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 Panel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438525"/>
            <a:ext cx="4610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Severe Collinearity in Extended Panels: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Total cholesterol (s1 VIF = 59.2) and LDL (s2 VIF = 39.2) heavily overlap.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914775"/>
            <a:ext cx="4610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Zero Added Value: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Full panels inflate testing costs without improving predictive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391025"/>
            <a:ext cx="46101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Streamlined Protocol: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Measure triglycerides  to capture essential lipid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3038475"/>
            <a:ext cx="214885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Decision-Making</a:t>
            </a:r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3438525"/>
            <a:ext cx="46101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Observational Evidence:</a:t>
            </a:r>
            <a:r>
              <a:rPr sz="1125" b="0" i="0" u="none" dirty="0">
                <a:solidFill>
                  <a:srgbClr val="4755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Associations reflect statistical correlation, not direct causality.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914775"/>
            <a:ext cx="46101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Trial </a:t>
            </a:r>
            <a:r>
              <a:rPr sz="1125" b="1" i="0" u="none" dirty="0">
                <a:solidFill>
                  <a:srgbClr val="0F17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Prerequisite</a:t>
            </a:r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: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Target interventions require validation via prospective clinical </a:t>
            </a:r>
            <a:r>
              <a:rPr sz="1125" b="0" i="0" u="none" dirty="0">
                <a:solidFill>
                  <a:srgbClr val="4755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trials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391025"/>
            <a:ext cx="4610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Unmeasured Factors: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Diet, physical exercise, and medication adherence remain unobserved.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57437"/>
            <a:ext cx="9144000" cy="895350"/>
          </a:xfrm>
          <a:prstGeom prst="roundRect">
            <a:avLst>
              <a:gd name="adj" fmla="val 127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443287"/>
            <a:ext cx="9144000" cy="1076325"/>
          </a:xfrm>
          <a:prstGeom prst="roundRect">
            <a:avLst>
              <a:gd name="adj" fmla="val 1061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710112"/>
            <a:ext cx="9144000" cy="895350"/>
          </a:xfrm>
          <a:prstGeom prst="roundRect">
            <a:avLst>
              <a:gd name="adj" fmla="val 127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357437"/>
            <a:ext cx="38100" cy="8953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443287"/>
            <a:ext cx="38100" cy="10763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710112"/>
            <a:ext cx="38100" cy="8953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050" y="1476375"/>
            <a:ext cx="420531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FFFFF"/>
                </a:solidFill>
                <a:latin typeface="Space Grotesk"/>
              </a:rPr>
              <a:t>Strategic Recommendations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657475"/>
            <a:ext cx="5429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833812"/>
            <a:ext cx="5715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5010150"/>
            <a:ext cx="5810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675" y="2586037"/>
            <a:ext cx="10401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Implement Rapid Risk Stratification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0675" y="2843212"/>
            <a:ext cx="9906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Focus clinical intake workflows on BMI, blood pressure, and triglycerides for immediate high-yield patient risk sorting.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250" y="3671887"/>
            <a:ext cx="104763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Reduce Diagnostic Overhead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250" y="3929062"/>
            <a:ext cx="8077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Eliminate redundant full lipid fractionation tests from routine screening to lower costs without sacrificing predictive power.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8775" y="4938712"/>
            <a:ext cx="1003875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Design Target Intervention Trials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8775" y="5195887"/>
            <a:ext cx="956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Utilize the 3-marker profile to cohort high-risk patients for prospective weight and metabolic management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347</Words>
  <Application>Microsoft Macintosh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Plus Jakarta Sans</vt:lpstr>
      <vt:lpstr>Arial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Ilias Alexandridis</cp:lastModifiedBy>
  <cp:revision>2</cp:revision>
  <dcterms:created xsi:type="dcterms:W3CDTF">2013-01-27T09:14:16Z</dcterms:created>
  <dcterms:modified xsi:type="dcterms:W3CDTF">2026-10-24T12:01:21Z</dcterms:modified>
  <cp:category/>
</cp:coreProperties>
</file>